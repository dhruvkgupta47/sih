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7"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000"/>
    <a:srgbClr val="9BBB59"/>
    <a:srgbClr val="39B0D4"/>
    <a:srgbClr val="727272"/>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80" y="6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mp"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tmp" /><Relationship Id="rId2" Type="http://schemas.openxmlformats.org/officeDocument/2006/relationships/notesSlide" Target="../notesSlides/notesSlide1.xml" /><Relationship Id="rId1" Type="http://schemas.openxmlformats.org/officeDocument/2006/relationships/slideLayout" Target="../slideLayouts/slideLayout7.xml" /><Relationship Id="rId4" Type="http://schemas.openxmlformats.org/officeDocument/2006/relationships/image" Target="../media/image3.tmp" /></Relationships>
</file>

<file path=ppt/slides/_rels/slide3.xml.rels><?xml version="1.0" encoding="UTF-8" standalone="yes"?>
<Relationships xmlns="http://schemas.openxmlformats.org/package/2006/relationships"><Relationship Id="rId3" Type="http://schemas.openxmlformats.org/officeDocument/2006/relationships/image" Target="../media/image4.tmp" /><Relationship Id="rId2" Type="http://schemas.openxmlformats.org/officeDocument/2006/relationships/notesSlide" Target="../notesSlides/notesSlide2.xml" /><Relationship Id="rId1" Type="http://schemas.openxmlformats.org/officeDocument/2006/relationships/slideLayout" Target="../slideLayouts/slideLayout2.xml" /><Relationship Id="rId5" Type="http://schemas.openxmlformats.org/officeDocument/2006/relationships/image" Target="../media/image5.jpeg" /><Relationship Id="rId4" Type="http://schemas.openxmlformats.org/officeDocument/2006/relationships/image" Target="../media/image2.tmp" /></Relationships>
</file>

<file path=ppt/slides/_rels/slide4.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 Id="rId4" Type="http://schemas.openxmlformats.org/officeDocument/2006/relationships/image" Target="../media/image2.tmp" /></Relationships>
</file>

<file path=ppt/slides/_rels/slide5.xml.rels><?xml version="1.0" encoding="UTF-8" standalone="yes"?>
<Relationships xmlns="http://schemas.openxmlformats.org/package/2006/relationships"><Relationship Id="rId3" Type="http://schemas.openxmlformats.org/officeDocument/2006/relationships/image" Target="../media/image8.tmp"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image" Target="../media/image9.jpeg" /><Relationship Id="rId4" Type="http://schemas.openxmlformats.org/officeDocument/2006/relationships/image" Target="../media/image2.tmp" /></Relationships>
</file>

<file path=ppt/slides/_rels/slide6.xml.rels><?xml version="1.0" encoding="UTF-8" standalone="yes"?>
<Relationships xmlns="http://schemas.openxmlformats.org/package/2006/relationships"><Relationship Id="rId3" Type="http://schemas.openxmlformats.org/officeDocument/2006/relationships/image" Target="../media/image2.tmp" /><Relationship Id="rId7" Type="http://schemas.openxmlformats.org/officeDocument/2006/relationships/image" Target="../media/image13.jpe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12.tmp" /><Relationship Id="rId5" Type="http://schemas.openxmlformats.org/officeDocument/2006/relationships/image" Target="../media/image11.jpeg" /><Relationship Id="rId4" Type="http://schemas.openxmlformats.org/officeDocument/2006/relationships/image" Target="../media/image10.tmp"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9247322" y="2173109"/>
            <a:ext cx="3096160" cy="3426237"/>
          </a:xfrm>
          <a:prstGeom prst="rect">
            <a:avLst/>
          </a:prstGeom>
        </p:spPr>
      </p:pic>
      <p:sp>
        <p:nvSpPr>
          <p:cNvPr id="4" name="Subtitle 3"/>
          <p:cNvSpPr>
            <a:spLocks noGrp="1"/>
          </p:cNvSpPr>
          <p:nvPr>
            <p:ph type="subTitle" idx="1"/>
          </p:nvPr>
        </p:nvSpPr>
        <p:spPr>
          <a:xfrm>
            <a:off x="1182121" y="280505"/>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97341" y="-4743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56426" y="1067129"/>
            <a:ext cx="9915043" cy="5813836"/>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ID – </a:t>
            </a:r>
            <a:r>
              <a:rPr lang="en-US" sz="2000" b="1" dirty="0">
                <a:solidFill>
                  <a:srgbClr val="FF0000"/>
                </a:solidFill>
                <a:latin typeface="Arial" panose="020B0604020202020204" pitchFamily="34" charset="0"/>
                <a:cs typeface="Arial" panose="020B0604020202020204" pitchFamily="34" charset="0"/>
              </a:rPr>
              <a:t>SIH26070</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Problem Statement Title- </a:t>
            </a:r>
            <a:r>
              <a:rPr lang="en-US" sz="2000" b="1" i="1" dirty="0">
                <a:solidFill>
                  <a:srgbClr val="FF0000"/>
                </a:solidFill>
                <a:latin typeface="Arial" panose="020B0604020202020204" pitchFamily="34" charset="0"/>
                <a:cs typeface="Arial" panose="020B0604020202020204" pitchFamily="34" charset="0"/>
              </a:rPr>
              <a:t>AI/ML-based</a:t>
            </a:r>
            <a:r>
              <a:rPr lang="en-US" sz="2000" b="1" dirty="0">
                <a:solidFill>
                  <a:srgbClr val="FF0000"/>
                </a:solidFill>
                <a:latin typeface="Arial" panose="020B0604020202020204" pitchFamily="34" charset="0"/>
                <a:cs typeface="Arial" panose="020B0604020202020204" pitchFamily="34" charset="0"/>
              </a:rPr>
              <a:t> </a:t>
            </a:r>
            <a:r>
              <a:rPr lang="en-US" sz="2000" b="1" i="1" dirty="0">
                <a:solidFill>
                  <a:srgbClr val="FF0000"/>
                </a:solidFill>
                <a:latin typeface="Arial" panose="020B0604020202020204" pitchFamily="34" charset="0"/>
                <a:cs typeface="Arial" panose="020B0604020202020204" pitchFamily="34" charset="0"/>
              </a:rPr>
              <a:t>system for identification, classification, and prediction of tropical cyclone patterns using multi-source satellite data </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Theme - </a:t>
            </a:r>
            <a:r>
              <a:rPr lang="en-US" sz="2000" b="1" dirty="0">
                <a:solidFill>
                  <a:srgbClr val="FF0000"/>
                </a:solidFill>
                <a:latin typeface="Arial" panose="020B0604020202020204" pitchFamily="34" charset="0"/>
                <a:cs typeface="Arial" panose="020B0604020202020204" pitchFamily="34" charset="0"/>
              </a:rPr>
              <a:t>Smart</a:t>
            </a:r>
            <a:r>
              <a:rPr lang="en-US" sz="2000" b="1"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Education </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PS Category- </a:t>
            </a:r>
            <a:r>
              <a:rPr lang="en-US" sz="2000" b="1" dirty="0">
                <a:solidFill>
                  <a:srgbClr val="FF0000"/>
                </a:solidFill>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Organization – </a:t>
            </a:r>
            <a:r>
              <a:rPr lang="en-US" sz="2000" b="1" dirty="0">
                <a:solidFill>
                  <a:srgbClr val="FF0000"/>
                </a:solidFill>
                <a:latin typeface="Arial" panose="020B0604020202020204" pitchFamily="34" charset="0"/>
                <a:cs typeface="Arial" panose="020B0604020202020204" pitchFamily="34" charset="0"/>
              </a:rPr>
              <a:t>Ministry</a:t>
            </a:r>
            <a:r>
              <a:rPr lang="en-US" sz="2000" b="1"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of</a:t>
            </a:r>
            <a:r>
              <a:rPr lang="en-US" sz="2000" b="1"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Earth</a:t>
            </a:r>
            <a:r>
              <a:rPr lang="en-US" sz="2000" b="1"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Sciences</a:t>
            </a:r>
            <a:r>
              <a:rPr lang="en-US" sz="2000" b="1"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a:t>
            </a:r>
            <a:r>
              <a:rPr lang="en-US" sz="2000" b="1" dirty="0" err="1">
                <a:solidFill>
                  <a:srgbClr val="FF0000"/>
                </a:solidFill>
                <a:latin typeface="Arial" panose="020B0604020202020204" pitchFamily="34" charset="0"/>
                <a:cs typeface="Arial" panose="020B0604020202020204" pitchFamily="34" charset="0"/>
              </a:rPr>
              <a:t>MoES</a:t>
            </a:r>
            <a:r>
              <a:rPr lang="en-US" sz="2000" b="1" dirty="0">
                <a:solidFill>
                  <a:srgbClr val="FF0000"/>
                </a:solidFill>
                <a:latin typeface="Arial" panose="020B0604020202020204" pitchFamily="34" charset="0"/>
                <a:cs typeface="Arial" panose="020B0604020202020204" pitchFamily="34" charset="0"/>
              </a:rPr>
              <a:t>)</a:t>
            </a:r>
            <a:r>
              <a:rPr lang="en-US" sz="2000" b="1" dirty="0">
                <a:latin typeface="Arial" panose="020B0604020202020204" pitchFamily="34" charset="0"/>
                <a:cs typeface="Arial" panose="020B0604020202020204" pitchFamily="34" charset="0"/>
              </a:rPr>
              <a:t> </a:t>
            </a:r>
            <a:endParaRPr lang="en-US" sz="2000" b="1" dirty="0">
              <a:solidFill>
                <a:srgbClr val="FF0000"/>
              </a:solidFill>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Team Name – </a:t>
            </a:r>
            <a:r>
              <a:rPr lang="en-US" sz="2000" b="1" dirty="0">
                <a:solidFill>
                  <a:srgbClr val="FF0000"/>
                </a:solidFill>
                <a:latin typeface="Arial" panose="020B0604020202020204" pitchFamily="34" charset="0"/>
                <a:cs typeface="Arial" panose="020B0604020202020204" pitchFamily="34" charset="0"/>
              </a:rPr>
              <a:t>Code over Coffee</a:t>
            </a:r>
            <a:endParaRPr lang="en-US" sz="20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Institute name – </a:t>
            </a:r>
            <a:r>
              <a:rPr lang="en-US" sz="2000" b="1" dirty="0">
                <a:solidFill>
                  <a:srgbClr val="FF0000"/>
                </a:solidFill>
                <a:latin typeface="Arial" panose="020B0604020202020204" pitchFamily="34" charset="0"/>
                <a:cs typeface="Arial" panose="020B0604020202020204" pitchFamily="34" charset="0"/>
              </a:rPr>
              <a:t>Swami Keshvanand Institute of Technology, Ramnagariya road, Jagatpura, Jaipur </a:t>
            </a:r>
            <a:endParaRPr lang="en-IN" sz="2000" b="1" dirty="0">
              <a:solidFill>
                <a:srgbClr val="FF0000"/>
              </a:solidFill>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3"/>
          <a:srcRect/>
          <a:stretch/>
        </p:blipFill>
        <p:spPr bwMode="auto">
          <a:xfrm>
            <a:off x="9572627" y="206099"/>
            <a:ext cx="2522032" cy="9202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a:solidFill>
                  <a:schemeClr val="bg1"/>
                </a:solidFill>
              </a:rPr>
              <a:t>@SIH Idea submission- Template</a:t>
            </a:r>
            <a:endParaRPr lang="en-US" dirty="0">
              <a:solidFill>
                <a:schemeClr val="bg1"/>
              </a:solidFill>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5361" name="Title 1"/>
          <p:cNvSpPr>
            <a:spLocks noGrp="1"/>
          </p:cNvSpPr>
          <p:nvPr>
            <p:ph type="title" idx="4294967295"/>
          </p:nvPr>
        </p:nvSpPr>
        <p:spPr>
          <a:xfrm>
            <a:off x="1444625" y="247638"/>
            <a:ext cx="8567322" cy="1121518"/>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AI/ML-Based Tropical Cyclone Identification, Classification &amp; Prediction Using Multi-Source Satellite Data</a:t>
            </a:r>
          </a:p>
        </p:txBody>
      </p:sp>
      <p:sp>
        <p:nvSpPr>
          <p:cNvPr id="15362" name="TextBox 8"/>
          <p:cNvSpPr txBox="1">
            <a:spLocks noChangeArrowheads="1"/>
          </p:cNvSpPr>
          <p:nvPr/>
        </p:nvSpPr>
        <p:spPr bwMode="auto">
          <a:xfrm>
            <a:off x="6015358" y="1582340"/>
            <a:ext cx="5444484" cy="3693319"/>
          </a:xfrm>
          <a:prstGeom prst="rect">
            <a:avLst/>
          </a:prstGeom>
          <a:noFill/>
          <a:ln w="9525">
            <a:noFill/>
            <a:miter lim="800000"/>
            <a:headEnd/>
            <a:tailEnd/>
          </a:ln>
        </p:spPr>
        <p:txBody>
          <a:bodyPr wrap="square">
            <a:spAutoFit/>
          </a:bodyPr>
          <a:lstStyle/>
          <a:p>
            <a:r>
              <a:rPr lang="en-US" b="1" u="sng" dirty="0">
                <a:solidFill>
                  <a:schemeClr val="tx2"/>
                </a:solidFill>
                <a:latin typeface="Arial" pitchFamily="34" charset="0"/>
                <a:cs typeface="Arial" pitchFamily="34" charset="0"/>
              </a:rPr>
              <a:t> Proposed Solution </a:t>
            </a:r>
          </a:p>
          <a:p>
            <a:endParaRPr lang="en-US" b="1" dirty="0">
              <a:solidFill>
                <a:schemeClr val="tx2"/>
              </a:solidFill>
              <a:latin typeface="Arial" pitchFamily="34" charset="0"/>
              <a:cs typeface="Arial" pitchFamily="34" charset="0"/>
            </a:endParaRPr>
          </a:p>
          <a:p>
            <a:r>
              <a:rPr lang="en-US">
                <a:solidFill>
                  <a:srgbClr val="010000"/>
                </a:solidFill>
                <a:latin typeface="Arial" pitchFamily="34" charset="0"/>
                <a:cs typeface="Arial" pitchFamily="34" charset="0"/>
              </a:rPr>
              <a:t>An </a:t>
            </a:r>
            <a:r>
              <a:rPr lang="en-US" dirty="0">
                <a:solidFill>
                  <a:srgbClr val="010000"/>
                </a:solidFill>
                <a:latin typeface="Arial" pitchFamily="34" charset="0"/>
                <a:cs typeface="Arial" pitchFamily="34" charset="0"/>
              </a:rPr>
              <a:t>AI/ML pipeline that ingests satellite imagery (INSAT-3D/3DR + other sources), automatically detects cyclone formation, classifies intensity (per IMD’s depression → super cyclone scale), and predicts track/intensity evolution. It will continuously analyze real-time and historical data to identify changing cyclone patterns. The system will provide early predictions of cyclone movement, intensity, and possible landfall. This will help meteorologists make faster, more accurate decisions and enable timely disaster preparedness and warnings.</a:t>
            </a:r>
          </a:p>
        </p:txBody>
      </p:sp>
      <p:pic>
        <p:nvPicPr>
          <p:cNvPr id="12" name="Picture 2"/>
          <p:cNvPicPr>
            <a:picLocks noChangeAspect="1" noChangeArrowheads="1"/>
          </p:cNvPicPr>
          <p:nvPr/>
        </p:nvPicPr>
        <p:blipFill>
          <a:blip r:embed="rId3"/>
          <a:srcRect/>
          <a:stretch/>
        </p:blipFill>
        <p:spPr bwMode="auto">
          <a:xfrm>
            <a:off x="9841366" y="215516"/>
            <a:ext cx="2209120" cy="8060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69FD97A-146D-3EE9-D015-24EABF055515}"/>
              </a:ext>
            </a:extLst>
          </p:cNvPr>
          <p:cNvSpPr txBox="1"/>
          <p:nvPr/>
        </p:nvSpPr>
        <p:spPr>
          <a:xfrm>
            <a:off x="467315" y="1582340"/>
            <a:ext cx="5260971" cy="4555093"/>
          </a:xfrm>
          <a:prstGeom prst="rect">
            <a:avLst/>
          </a:prstGeom>
          <a:noFill/>
        </p:spPr>
        <p:txBody>
          <a:bodyPr wrap="square">
            <a:spAutoFit/>
          </a:bodyPr>
          <a:lstStyle/>
          <a:p>
            <a:pPr>
              <a:spcBef>
                <a:spcPts val="900"/>
              </a:spcBef>
              <a:spcAft>
                <a:spcPts val="1200"/>
              </a:spcAft>
            </a:pPr>
            <a:r>
              <a:rPr lang="en-US" sz="2000" b="1" u="sng" dirty="0">
                <a:solidFill>
                  <a:schemeClr val="tx2"/>
                </a:solidFill>
                <a:latin typeface="Google Sans"/>
              </a:rPr>
              <a:t>Problem</a:t>
            </a:r>
          </a:p>
          <a:p>
            <a:pPr>
              <a:spcBef>
                <a:spcPts val="900"/>
              </a:spcBef>
              <a:spcAft>
                <a:spcPts val="1200"/>
              </a:spcAft>
            </a:pPr>
            <a:r>
              <a:rPr lang="en-US" sz="2000" b="1" dirty="0">
                <a:solidFill>
                  <a:srgbClr val="010000"/>
                </a:solidFill>
                <a:latin typeface="Google Sans"/>
              </a:rPr>
              <a:t>•Time-Consuming: </a:t>
            </a:r>
            <a:r>
              <a:rPr lang="en-US" sz="2000" dirty="0">
                <a:solidFill>
                  <a:srgbClr val="010000"/>
                </a:solidFill>
                <a:latin typeface="Google Sans"/>
              </a:rPr>
              <a:t>Manually</a:t>
            </a:r>
            <a:r>
              <a:rPr lang="en-US" sz="2000" b="1" dirty="0">
                <a:solidFill>
                  <a:srgbClr val="010000"/>
                </a:solidFill>
                <a:latin typeface="Google Sans"/>
              </a:rPr>
              <a:t> </a:t>
            </a:r>
            <a:r>
              <a:rPr lang="en-US" sz="2000" dirty="0">
                <a:solidFill>
                  <a:srgbClr val="010000"/>
                </a:solidFill>
                <a:latin typeface="Google Sans"/>
              </a:rPr>
              <a:t>analyzing</a:t>
            </a:r>
            <a:r>
              <a:rPr lang="en-US" sz="2000" b="1" dirty="0">
                <a:solidFill>
                  <a:srgbClr val="010000"/>
                </a:solidFill>
                <a:latin typeface="Google Sans"/>
              </a:rPr>
              <a:t> </a:t>
            </a:r>
            <a:r>
              <a:rPr lang="en-US" sz="2000" dirty="0">
                <a:solidFill>
                  <a:srgbClr val="010000"/>
                </a:solidFill>
                <a:latin typeface="Google Sans"/>
              </a:rPr>
              <a:t>satellite</a:t>
            </a:r>
            <a:r>
              <a:rPr lang="en-US" sz="2000" b="1" dirty="0">
                <a:solidFill>
                  <a:srgbClr val="010000"/>
                </a:solidFill>
                <a:latin typeface="Google Sans"/>
              </a:rPr>
              <a:t> </a:t>
            </a:r>
            <a:r>
              <a:rPr lang="en-US" sz="2000" dirty="0">
                <a:solidFill>
                  <a:srgbClr val="010000"/>
                </a:solidFill>
                <a:latin typeface="Google Sans"/>
              </a:rPr>
              <a:t>images</a:t>
            </a:r>
            <a:r>
              <a:rPr lang="en-US" sz="2000" b="1" dirty="0">
                <a:solidFill>
                  <a:srgbClr val="010000"/>
                </a:solidFill>
                <a:latin typeface="Google Sans"/>
              </a:rPr>
              <a:t> </a:t>
            </a:r>
            <a:r>
              <a:rPr lang="en-US" sz="2000" dirty="0">
                <a:solidFill>
                  <a:srgbClr val="010000"/>
                </a:solidFill>
                <a:latin typeface="Google Sans"/>
              </a:rPr>
              <a:t>takes</a:t>
            </a:r>
            <a:r>
              <a:rPr lang="en-US" sz="2000" b="1" dirty="0">
                <a:solidFill>
                  <a:srgbClr val="010000"/>
                </a:solidFill>
                <a:latin typeface="Google Sans"/>
              </a:rPr>
              <a:t> </a:t>
            </a:r>
            <a:r>
              <a:rPr lang="en-US" sz="2000" dirty="0">
                <a:solidFill>
                  <a:srgbClr val="010000"/>
                </a:solidFill>
                <a:latin typeface="Google Sans"/>
              </a:rPr>
              <a:t>a</a:t>
            </a:r>
            <a:r>
              <a:rPr lang="en-US" sz="2000" b="1" dirty="0">
                <a:solidFill>
                  <a:srgbClr val="010000"/>
                </a:solidFill>
                <a:latin typeface="Google Sans"/>
              </a:rPr>
              <a:t> </a:t>
            </a:r>
            <a:r>
              <a:rPr lang="en-US" sz="2000" dirty="0">
                <a:solidFill>
                  <a:srgbClr val="010000"/>
                </a:solidFill>
                <a:latin typeface="Google Sans"/>
              </a:rPr>
              <a:t>lot</a:t>
            </a:r>
            <a:r>
              <a:rPr lang="en-US" sz="2000" b="1" dirty="0">
                <a:solidFill>
                  <a:srgbClr val="010000"/>
                </a:solidFill>
                <a:latin typeface="Google Sans"/>
              </a:rPr>
              <a:t> </a:t>
            </a:r>
            <a:r>
              <a:rPr lang="en-US" sz="2000" dirty="0">
                <a:solidFill>
                  <a:srgbClr val="010000"/>
                </a:solidFill>
                <a:latin typeface="Google Sans"/>
              </a:rPr>
              <a:t>of</a:t>
            </a:r>
            <a:r>
              <a:rPr lang="en-US" sz="2000" b="1" dirty="0">
                <a:solidFill>
                  <a:srgbClr val="010000"/>
                </a:solidFill>
                <a:latin typeface="Google Sans"/>
              </a:rPr>
              <a:t> </a:t>
            </a:r>
            <a:r>
              <a:rPr lang="en-US" sz="2000" dirty="0">
                <a:solidFill>
                  <a:srgbClr val="010000"/>
                </a:solidFill>
                <a:latin typeface="Google Sans"/>
              </a:rPr>
              <a:t>time.</a:t>
            </a:r>
            <a:r>
              <a:rPr lang="en-US" sz="2000" b="1" dirty="0">
                <a:solidFill>
                  <a:srgbClr val="010000"/>
                </a:solidFill>
                <a:latin typeface="Google Sans"/>
              </a:rPr>
              <a:t>
Needs Experts: </a:t>
            </a:r>
            <a:r>
              <a:rPr lang="en-US" sz="2000" dirty="0">
                <a:solidFill>
                  <a:srgbClr val="010000"/>
                </a:solidFill>
                <a:latin typeface="Google Sans"/>
              </a:rPr>
              <a:t>Cyclone</a:t>
            </a:r>
            <a:r>
              <a:rPr lang="en-US" sz="2000" b="1" dirty="0">
                <a:solidFill>
                  <a:srgbClr val="010000"/>
                </a:solidFill>
                <a:latin typeface="Google Sans"/>
              </a:rPr>
              <a:t> </a:t>
            </a:r>
            <a:r>
              <a:rPr lang="en-US" sz="2000" dirty="0">
                <a:solidFill>
                  <a:srgbClr val="010000"/>
                </a:solidFill>
                <a:latin typeface="Google Sans"/>
              </a:rPr>
              <a:t>detection</a:t>
            </a:r>
            <a:r>
              <a:rPr lang="en-US" sz="2000" b="1" dirty="0">
                <a:solidFill>
                  <a:srgbClr val="010000"/>
                </a:solidFill>
                <a:latin typeface="Google Sans"/>
              </a:rPr>
              <a:t> </a:t>
            </a:r>
            <a:r>
              <a:rPr lang="en-US" sz="2000" dirty="0">
                <a:solidFill>
                  <a:srgbClr val="010000"/>
                </a:solidFill>
                <a:latin typeface="Google Sans"/>
              </a:rPr>
              <a:t>and</a:t>
            </a:r>
            <a:r>
              <a:rPr lang="en-US" sz="2000" b="1" dirty="0">
                <a:solidFill>
                  <a:srgbClr val="010000"/>
                </a:solidFill>
                <a:latin typeface="Google Sans"/>
              </a:rPr>
              <a:t> </a:t>
            </a:r>
            <a:r>
              <a:rPr lang="en-US" sz="2000" dirty="0">
                <a:solidFill>
                  <a:srgbClr val="010000"/>
                </a:solidFill>
                <a:latin typeface="Google Sans"/>
              </a:rPr>
              <a:t>classification</a:t>
            </a:r>
            <a:r>
              <a:rPr lang="en-US" sz="2000" b="1" dirty="0">
                <a:solidFill>
                  <a:srgbClr val="010000"/>
                </a:solidFill>
                <a:latin typeface="Google Sans"/>
              </a:rPr>
              <a:t> </a:t>
            </a:r>
            <a:r>
              <a:rPr lang="en-US" sz="2000" dirty="0">
                <a:solidFill>
                  <a:srgbClr val="010000"/>
                </a:solidFill>
                <a:latin typeface="Google Sans"/>
              </a:rPr>
              <a:t>depend</a:t>
            </a:r>
            <a:r>
              <a:rPr lang="en-US" sz="2000" b="1" dirty="0">
                <a:solidFill>
                  <a:srgbClr val="010000"/>
                </a:solidFill>
                <a:latin typeface="Google Sans"/>
              </a:rPr>
              <a:t> </a:t>
            </a:r>
            <a:r>
              <a:rPr lang="en-US" sz="2000" dirty="0">
                <a:solidFill>
                  <a:srgbClr val="010000"/>
                </a:solidFill>
                <a:latin typeface="Google Sans"/>
              </a:rPr>
              <a:t>on</a:t>
            </a:r>
            <a:r>
              <a:rPr lang="en-US" sz="2000" b="1" dirty="0">
                <a:solidFill>
                  <a:srgbClr val="010000"/>
                </a:solidFill>
                <a:latin typeface="Google Sans"/>
              </a:rPr>
              <a:t> </a:t>
            </a:r>
            <a:r>
              <a:rPr lang="en-US" sz="2000" dirty="0">
                <a:solidFill>
                  <a:srgbClr val="010000"/>
                </a:solidFill>
                <a:latin typeface="Google Sans"/>
              </a:rPr>
              <a:t>skilled</a:t>
            </a:r>
            <a:r>
              <a:rPr lang="en-US" sz="2000" b="1" dirty="0">
                <a:solidFill>
                  <a:srgbClr val="010000"/>
                </a:solidFill>
                <a:latin typeface="Google Sans"/>
              </a:rPr>
              <a:t> </a:t>
            </a:r>
            <a:r>
              <a:rPr lang="en-US" sz="2000" dirty="0">
                <a:solidFill>
                  <a:srgbClr val="010000"/>
                </a:solidFill>
                <a:latin typeface="Google Sans"/>
              </a:rPr>
              <a:t>meteorologists</a:t>
            </a:r>
            <a:r>
              <a:rPr lang="en-US" sz="2000" b="1" dirty="0">
                <a:solidFill>
                  <a:srgbClr val="010000"/>
                </a:solidFill>
                <a:latin typeface="Google Sans"/>
              </a:rPr>
              <a:t>.
Prediction Delays: </a:t>
            </a:r>
            <a:r>
              <a:rPr lang="en-US" sz="2000" dirty="0">
                <a:solidFill>
                  <a:srgbClr val="010000"/>
                </a:solidFill>
                <a:latin typeface="Google Sans"/>
              </a:rPr>
              <a:t>Manual</a:t>
            </a:r>
            <a:r>
              <a:rPr lang="en-US" sz="2000" b="1" dirty="0">
                <a:solidFill>
                  <a:srgbClr val="010000"/>
                </a:solidFill>
                <a:latin typeface="Google Sans"/>
              </a:rPr>
              <a:t> </a:t>
            </a:r>
            <a:r>
              <a:rPr lang="en-US" sz="2000" dirty="0">
                <a:solidFill>
                  <a:srgbClr val="010000"/>
                </a:solidFill>
                <a:latin typeface="Google Sans"/>
              </a:rPr>
              <a:t>analysis</a:t>
            </a:r>
            <a:r>
              <a:rPr lang="en-US" sz="2000" b="1" dirty="0">
                <a:solidFill>
                  <a:srgbClr val="010000"/>
                </a:solidFill>
                <a:latin typeface="Google Sans"/>
              </a:rPr>
              <a:t> </a:t>
            </a:r>
            <a:r>
              <a:rPr lang="en-US" sz="2000" dirty="0">
                <a:solidFill>
                  <a:srgbClr val="010000"/>
                </a:solidFill>
                <a:latin typeface="Google Sans"/>
              </a:rPr>
              <a:t>can</a:t>
            </a:r>
            <a:r>
              <a:rPr lang="en-US" sz="2000" b="1" dirty="0">
                <a:solidFill>
                  <a:srgbClr val="010000"/>
                </a:solidFill>
                <a:latin typeface="Google Sans"/>
              </a:rPr>
              <a:t> </a:t>
            </a:r>
            <a:r>
              <a:rPr lang="en-US" sz="2000" dirty="0">
                <a:solidFill>
                  <a:srgbClr val="010000"/>
                </a:solidFill>
                <a:latin typeface="Google Sans"/>
              </a:rPr>
              <a:t>delay</a:t>
            </a:r>
            <a:r>
              <a:rPr lang="en-US" sz="2000" b="1" dirty="0">
                <a:solidFill>
                  <a:srgbClr val="010000"/>
                </a:solidFill>
                <a:latin typeface="Google Sans"/>
              </a:rPr>
              <a:t> </a:t>
            </a:r>
            <a:r>
              <a:rPr lang="en-US" sz="2000" dirty="0">
                <a:solidFill>
                  <a:srgbClr val="010000"/>
                </a:solidFill>
                <a:latin typeface="Google Sans"/>
              </a:rPr>
              <a:t>predictions</a:t>
            </a:r>
            <a:r>
              <a:rPr lang="en-US" sz="2000" b="1" dirty="0">
                <a:solidFill>
                  <a:srgbClr val="010000"/>
                </a:solidFill>
                <a:latin typeface="Google Sans"/>
              </a:rPr>
              <a:t> </a:t>
            </a:r>
            <a:r>
              <a:rPr lang="en-US" sz="2000" dirty="0">
                <a:solidFill>
                  <a:srgbClr val="010000"/>
                </a:solidFill>
                <a:latin typeface="Google Sans"/>
              </a:rPr>
              <a:t>of</a:t>
            </a:r>
            <a:r>
              <a:rPr lang="en-US" sz="2000" b="1" dirty="0">
                <a:solidFill>
                  <a:srgbClr val="010000"/>
                </a:solidFill>
                <a:latin typeface="Google Sans"/>
              </a:rPr>
              <a:t> </a:t>
            </a:r>
            <a:r>
              <a:rPr lang="en-US" sz="2000" dirty="0">
                <a:solidFill>
                  <a:srgbClr val="010000"/>
                </a:solidFill>
                <a:latin typeface="Google Sans"/>
              </a:rPr>
              <a:t>cyclone</a:t>
            </a:r>
            <a:r>
              <a:rPr lang="en-US" sz="2000" b="1" dirty="0">
                <a:solidFill>
                  <a:srgbClr val="010000"/>
                </a:solidFill>
                <a:latin typeface="Google Sans"/>
              </a:rPr>
              <a:t> </a:t>
            </a:r>
            <a:r>
              <a:rPr lang="en-US" sz="2000" dirty="0">
                <a:solidFill>
                  <a:srgbClr val="010000"/>
                </a:solidFill>
                <a:latin typeface="Google Sans"/>
              </a:rPr>
              <a:t>path</a:t>
            </a:r>
            <a:r>
              <a:rPr lang="en-US" sz="2000" b="1" dirty="0">
                <a:solidFill>
                  <a:srgbClr val="010000"/>
                </a:solidFill>
                <a:latin typeface="Google Sans"/>
              </a:rPr>
              <a:t> </a:t>
            </a:r>
            <a:r>
              <a:rPr lang="en-US" sz="2000" dirty="0">
                <a:solidFill>
                  <a:srgbClr val="010000"/>
                </a:solidFill>
                <a:latin typeface="Google Sans"/>
              </a:rPr>
              <a:t>and</a:t>
            </a:r>
            <a:r>
              <a:rPr lang="en-US" sz="2000" b="1" dirty="0">
                <a:solidFill>
                  <a:srgbClr val="010000"/>
                </a:solidFill>
                <a:latin typeface="Google Sans"/>
              </a:rPr>
              <a:t> </a:t>
            </a:r>
            <a:r>
              <a:rPr lang="en-US" sz="2000" dirty="0">
                <a:solidFill>
                  <a:srgbClr val="010000"/>
                </a:solidFill>
                <a:latin typeface="Google Sans"/>
              </a:rPr>
              <a:t>strength</a:t>
            </a:r>
            <a:r>
              <a:rPr lang="en-US" sz="2000" b="1" dirty="0">
                <a:solidFill>
                  <a:srgbClr val="010000"/>
                </a:solidFill>
                <a:latin typeface="Google Sans"/>
              </a:rPr>
              <a:t> </a:t>
            </a:r>
            <a:r>
              <a:rPr lang="en-US" sz="2000" dirty="0">
                <a:solidFill>
                  <a:srgbClr val="010000"/>
                </a:solidFill>
                <a:latin typeface="Google Sans"/>
              </a:rPr>
              <a:t>results </a:t>
            </a:r>
            <a:r>
              <a:rPr lang="en-US" sz="2000" dirty="0" err="1">
                <a:solidFill>
                  <a:srgbClr val="010000"/>
                </a:solidFill>
                <a:latin typeface="Google Sans"/>
              </a:rPr>
              <a:t>inmassive</a:t>
            </a:r>
            <a:r>
              <a:rPr lang="en-US" sz="2000" dirty="0">
                <a:solidFill>
                  <a:srgbClr val="010000"/>
                </a:solidFill>
                <a:latin typeface="Google Sans"/>
              </a:rPr>
              <a:t> loss of life and property in coastal India.</a:t>
            </a:r>
            <a:endParaRPr lang="en-US" sz="2000" b="1" dirty="0">
              <a:solidFill>
                <a:srgbClr val="010000"/>
              </a:solidFill>
              <a:latin typeface="Google Sans"/>
            </a:endParaRPr>
          </a:p>
          <a:p>
            <a:pPr>
              <a:spcBef>
                <a:spcPts val="900"/>
              </a:spcBef>
              <a:spcAft>
                <a:spcPts val="1200"/>
              </a:spcAft>
            </a:pPr>
            <a:r>
              <a:rPr lang="en-US" sz="2000" b="1" dirty="0">
                <a:solidFill>
                  <a:srgbClr val="010000"/>
                </a:solidFill>
                <a:latin typeface="Google Sans"/>
              </a:rPr>
              <a:t>Human Errors: </a:t>
            </a:r>
            <a:r>
              <a:rPr lang="en-US" sz="2000" dirty="0">
                <a:solidFill>
                  <a:srgbClr val="010000"/>
                </a:solidFill>
                <a:latin typeface="Google Sans"/>
              </a:rPr>
              <a:t>Different</a:t>
            </a:r>
            <a:r>
              <a:rPr lang="en-US" sz="2000" b="1" dirty="0">
                <a:solidFill>
                  <a:srgbClr val="010000"/>
                </a:solidFill>
                <a:latin typeface="Google Sans"/>
              </a:rPr>
              <a:t> </a:t>
            </a:r>
            <a:r>
              <a:rPr lang="en-US" sz="2000" dirty="0">
                <a:solidFill>
                  <a:srgbClr val="010000"/>
                </a:solidFill>
                <a:latin typeface="Google Sans"/>
              </a:rPr>
              <a:t>experts</a:t>
            </a:r>
            <a:r>
              <a:rPr lang="en-US" sz="2000" b="1" dirty="0">
                <a:solidFill>
                  <a:srgbClr val="010000"/>
                </a:solidFill>
                <a:latin typeface="Google Sans"/>
              </a:rPr>
              <a:t> </a:t>
            </a:r>
            <a:r>
              <a:rPr lang="en-US" sz="2000" dirty="0">
                <a:solidFill>
                  <a:srgbClr val="010000"/>
                </a:solidFill>
                <a:latin typeface="Google Sans"/>
              </a:rPr>
              <a:t>may</a:t>
            </a:r>
            <a:r>
              <a:rPr lang="en-US" sz="2000" b="1" dirty="0">
                <a:solidFill>
                  <a:srgbClr val="010000"/>
                </a:solidFill>
                <a:latin typeface="Google Sans"/>
              </a:rPr>
              <a:t> </a:t>
            </a:r>
            <a:r>
              <a:rPr lang="en-US" sz="2000" dirty="0">
                <a:solidFill>
                  <a:srgbClr val="010000"/>
                </a:solidFill>
                <a:latin typeface="Google Sans"/>
              </a:rPr>
              <a:t>give</a:t>
            </a:r>
            <a:r>
              <a:rPr lang="en-US" sz="2000" b="1" dirty="0">
                <a:solidFill>
                  <a:srgbClr val="010000"/>
                </a:solidFill>
                <a:latin typeface="Google Sans"/>
              </a:rPr>
              <a:t> </a:t>
            </a:r>
            <a:r>
              <a:rPr lang="en-US" sz="2000" dirty="0">
                <a:solidFill>
                  <a:srgbClr val="010000"/>
                </a:solidFill>
                <a:latin typeface="Google Sans"/>
              </a:rPr>
              <a:t>different</a:t>
            </a:r>
            <a:r>
              <a:rPr lang="en-US" sz="2000" b="1" dirty="0">
                <a:solidFill>
                  <a:srgbClr val="010000"/>
                </a:solidFill>
                <a:latin typeface="Google Sans"/>
              </a:rPr>
              <a:t> </a:t>
            </a:r>
            <a:r>
              <a:rPr lang="en-US" sz="2000" dirty="0">
                <a:solidFill>
                  <a:srgbClr val="010000"/>
                </a:solidFill>
                <a:latin typeface="Google Sans"/>
              </a:rPr>
              <a:t>results</a:t>
            </a:r>
            <a:r>
              <a:rPr lang="en-US" sz="2000" b="1" dirty="0">
                <a:solidFill>
                  <a:srgbClr val="010000"/>
                </a:solidFill>
                <a:latin typeface="Google Sans"/>
              </a:rPr>
              <a:t> </a:t>
            </a:r>
            <a:r>
              <a:rPr lang="en-US" sz="2000" dirty="0">
                <a:solidFill>
                  <a:srgbClr val="010000"/>
                </a:solidFill>
                <a:latin typeface="Google Sans"/>
              </a:rPr>
              <a:t>due</a:t>
            </a:r>
            <a:r>
              <a:rPr lang="en-US" sz="2000" b="1" dirty="0">
                <a:solidFill>
                  <a:srgbClr val="010000"/>
                </a:solidFill>
                <a:latin typeface="Google Sans"/>
              </a:rPr>
              <a:t> </a:t>
            </a:r>
            <a:r>
              <a:rPr lang="en-US" sz="2000" dirty="0">
                <a:solidFill>
                  <a:srgbClr val="010000"/>
                </a:solidFill>
                <a:latin typeface="Google Sans"/>
              </a:rPr>
              <a:t>to</a:t>
            </a:r>
            <a:r>
              <a:rPr lang="en-US" sz="2000" b="1" dirty="0">
                <a:solidFill>
                  <a:srgbClr val="010000"/>
                </a:solidFill>
                <a:latin typeface="Google Sans"/>
              </a:rPr>
              <a:t> </a:t>
            </a:r>
            <a:r>
              <a:rPr lang="en-US" sz="2000" dirty="0">
                <a:solidFill>
                  <a:srgbClr val="010000"/>
                </a:solidFill>
                <a:latin typeface="Google Sans"/>
              </a:rPr>
              <a:t>human</a:t>
            </a:r>
            <a:r>
              <a:rPr lang="en-US" sz="2000" b="1" dirty="0">
                <a:solidFill>
                  <a:srgbClr val="010000"/>
                </a:solidFill>
                <a:latin typeface="Google Sans"/>
              </a:rPr>
              <a:t> </a:t>
            </a:r>
            <a:r>
              <a:rPr lang="en-US" sz="2000" dirty="0">
                <a:solidFill>
                  <a:srgbClr val="010000"/>
                </a:solidFill>
                <a:latin typeface="Google Sans"/>
              </a:rPr>
              <a:t>judgment.</a:t>
            </a:r>
            <a:endParaRPr lang="en-US" sz="1600" u="none" strike="noStrike" dirty="0">
              <a:solidFill>
                <a:srgbClr val="010000"/>
              </a:solidFill>
              <a:effectLst/>
              <a:latin typeface="Google Sans"/>
            </a:endParaRPr>
          </a:p>
        </p:txBody>
      </p:sp>
      <p:pic>
        <p:nvPicPr>
          <p:cNvPr id="2" name="Picture 1">
            <a:extLst>
              <a:ext uri="{FF2B5EF4-FFF2-40B4-BE49-F238E27FC236}">
                <a16:creationId xmlns:a16="http://schemas.microsoft.com/office/drawing/2014/main" id="{0E9D9356-4585-1BC4-DEED-A0EB785A9D6A}"/>
              </a:ext>
            </a:extLst>
          </p:cNvPr>
          <p:cNvPicPr>
            <a:picLocks noChangeAspect="1"/>
          </p:cNvPicPr>
          <p:nvPr/>
        </p:nvPicPr>
        <p:blipFill>
          <a:blip r:embed="rId4"/>
          <a:srcRect/>
          <a:stretch/>
        </p:blipFill>
        <p:spPr>
          <a:xfrm rot="10800000" flipH="1" flipV="1">
            <a:off x="141514" y="-4942"/>
            <a:ext cx="1303111" cy="14273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2" name="Picture 1">
            <a:extLst>
              <a:ext uri="{FF2B5EF4-FFF2-40B4-BE49-F238E27FC236}">
                <a16:creationId xmlns:a16="http://schemas.microsoft.com/office/drawing/2014/main" id="{410D8D7F-FCB5-1210-F7D7-6A46C7755950}"/>
              </a:ext>
            </a:extLst>
          </p:cNvPr>
          <p:cNvPicPr>
            <a:picLocks noChangeAspect="1"/>
          </p:cNvPicPr>
          <p:nvPr/>
        </p:nvPicPr>
        <p:blipFill>
          <a:blip r:embed="rId3"/>
          <a:srcRect/>
          <a:stretch/>
        </p:blipFill>
        <p:spPr>
          <a:xfrm>
            <a:off x="109729" y="1272070"/>
            <a:ext cx="11858153" cy="5520233"/>
          </a:xfrm>
          <a:prstGeom prst="rect">
            <a:avLst/>
          </a:prstGeom>
        </p:spPr>
      </p:pic>
      <p:pic>
        <p:nvPicPr>
          <p:cNvPr id="4" name="Picture 2">
            <a:extLst>
              <a:ext uri="{FF2B5EF4-FFF2-40B4-BE49-F238E27FC236}">
                <a16:creationId xmlns:a16="http://schemas.microsoft.com/office/drawing/2014/main" id="{AC4AEE0B-5276-2DF8-D27A-51E71D4C58C4}"/>
              </a:ext>
            </a:extLst>
          </p:cNvPr>
          <p:cNvPicPr>
            <a:picLocks noChangeAspect="1" noChangeArrowheads="1"/>
          </p:cNvPicPr>
          <p:nvPr/>
        </p:nvPicPr>
        <p:blipFill>
          <a:blip r:embed="rId4"/>
          <a:srcRect/>
          <a:stretch/>
        </p:blipFill>
        <p:spPr bwMode="auto">
          <a:xfrm>
            <a:off x="9653107" y="46182"/>
            <a:ext cx="2209120" cy="8060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6F0B1FB-78A3-CEF9-EC67-550B611AD728}"/>
              </a:ext>
            </a:extLst>
          </p:cNvPr>
          <p:cNvPicPr>
            <a:picLocks noChangeAspect="1"/>
          </p:cNvPicPr>
          <p:nvPr/>
        </p:nvPicPr>
        <p:blipFill>
          <a:blip r:embed="rId5"/>
          <a:stretch>
            <a:fillRect/>
          </a:stretch>
        </p:blipFill>
        <p:spPr>
          <a:xfrm rot="10800000" flipH="1" flipV="1">
            <a:off x="109730" y="46182"/>
            <a:ext cx="1308322" cy="12258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B446-4A86-8586-5B89-94EE23C6E9C4}"/>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FEASIBILITY AND VIABILITY </a:t>
            </a:r>
          </a:p>
        </p:txBody>
      </p:sp>
      <p:pic>
        <p:nvPicPr>
          <p:cNvPr id="4" name="Content Placeholder 3">
            <a:extLst>
              <a:ext uri="{FF2B5EF4-FFF2-40B4-BE49-F238E27FC236}">
                <a16:creationId xmlns:a16="http://schemas.microsoft.com/office/drawing/2014/main" id="{50EC09A9-EF6F-866E-A58A-AE7FA0F337B5}"/>
              </a:ext>
            </a:extLst>
          </p:cNvPr>
          <p:cNvPicPr>
            <a:picLocks noGrp="1" noChangeAspect="1"/>
          </p:cNvPicPr>
          <p:nvPr>
            <p:ph idx="1"/>
          </p:nvPr>
        </p:nvPicPr>
        <p:blipFill>
          <a:blip r:embed="rId2"/>
          <a:stretch>
            <a:fillRect/>
          </a:stretch>
        </p:blipFill>
        <p:spPr>
          <a:xfrm>
            <a:off x="274589" y="730250"/>
            <a:ext cx="11819614" cy="6127750"/>
          </a:xfrm>
        </p:spPr>
      </p:pic>
      <p:sp>
        <p:nvSpPr>
          <p:cNvPr id="5" name="Slide Number Placeholder 4">
            <a:extLst>
              <a:ext uri="{FF2B5EF4-FFF2-40B4-BE49-F238E27FC236}">
                <a16:creationId xmlns:a16="http://schemas.microsoft.com/office/drawing/2014/main" id="{FB2B67A3-23AF-F211-3ADB-C695A2299F1D}"/>
              </a:ext>
            </a:extLst>
          </p:cNvPr>
          <p:cNvSpPr>
            <a:spLocks noGrp="1"/>
          </p:cNvSpPr>
          <p:nvPr>
            <p:ph type="sldNum" sz="quarter" idx="12"/>
          </p:nvPr>
        </p:nvSpPr>
        <p:spPr/>
        <p:txBody>
          <a:bodyPr/>
          <a:lstStyle/>
          <a:p>
            <a:fld id="{677C3CE7-23F7-4828-823C-E0205DF2CF97}" type="slidenum">
              <a:rPr lang="en-US" smtClean="0"/>
              <a:pPr/>
              <a:t>4</a:t>
            </a:fld>
            <a:endParaRPr lang="en-US"/>
          </a:p>
        </p:txBody>
      </p:sp>
      <p:pic>
        <p:nvPicPr>
          <p:cNvPr id="3" name="Picture 2">
            <a:extLst>
              <a:ext uri="{FF2B5EF4-FFF2-40B4-BE49-F238E27FC236}">
                <a16:creationId xmlns:a16="http://schemas.microsoft.com/office/drawing/2014/main" id="{59F38104-EC1E-96AB-7A27-C8CAB5D2B971}"/>
              </a:ext>
            </a:extLst>
          </p:cNvPr>
          <p:cNvPicPr>
            <a:picLocks noChangeAspect="1"/>
          </p:cNvPicPr>
          <p:nvPr/>
        </p:nvPicPr>
        <p:blipFill>
          <a:blip r:embed="rId3"/>
          <a:stretch>
            <a:fillRect/>
          </a:stretch>
        </p:blipFill>
        <p:spPr>
          <a:xfrm>
            <a:off x="1" y="1"/>
            <a:ext cx="1051316" cy="1088020"/>
          </a:xfrm>
          <a:prstGeom prst="rect">
            <a:avLst/>
          </a:prstGeom>
        </p:spPr>
      </p:pic>
      <p:pic>
        <p:nvPicPr>
          <p:cNvPr id="6" name="Picture 5">
            <a:extLst>
              <a:ext uri="{FF2B5EF4-FFF2-40B4-BE49-F238E27FC236}">
                <a16:creationId xmlns:a16="http://schemas.microsoft.com/office/drawing/2014/main" id="{535AD382-A864-84E4-6D59-5B56C4B75D93}"/>
              </a:ext>
            </a:extLst>
          </p:cNvPr>
          <p:cNvPicPr>
            <a:picLocks noChangeAspect="1"/>
          </p:cNvPicPr>
          <p:nvPr/>
        </p:nvPicPr>
        <p:blipFill>
          <a:blip r:embed="rId4"/>
          <a:stretch>
            <a:fillRect/>
          </a:stretch>
        </p:blipFill>
        <p:spPr>
          <a:xfrm>
            <a:off x="9380341" y="21223"/>
            <a:ext cx="2713862" cy="990193"/>
          </a:xfrm>
          <a:prstGeom prst="rect">
            <a:avLst/>
          </a:prstGeom>
        </p:spPr>
      </p:pic>
    </p:spTree>
    <p:extLst>
      <p:ext uri="{BB962C8B-B14F-4D97-AF65-F5344CB8AC3E}">
        <p14:creationId xmlns:p14="http://schemas.microsoft.com/office/powerpoint/2010/main" val="2127111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2314-A10F-A687-B6E1-11FFB158DEF8}"/>
              </a:ext>
            </a:extLst>
          </p:cNvPr>
          <p:cNvSpPr>
            <a:spLocks noGrp="1"/>
          </p:cNvSpPr>
          <p:nvPr>
            <p:ph type="ctrTitle"/>
          </p:nvPr>
        </p:nvSpPr>
        <p:spPr>
          <a:xfrm>
            <a:off x="750056" y="89050"/>
            <a:ext cx="10363200" cy="1470025"/>
          </a:xfrm>
        </p:spPr>
        <p:txBody>
          <a:bodyPr/>
          <a:lstStyle/>
          <a:p>
            <a:r>
              <a:rPr lang="en-US" sz="3600" b="1" dirty="0">
                <a:latin typeface="Times New Roman" panose="02020603050405020304" pitchFamily="18" charset="0"/>
                <a:cs typeface="Times New Roman" panose="02020603050405020304" pitchFamily="18" charset="0"/>
              </a:rPr>
              <a:t>IMPACTS AND BENEFITS </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4" name="Picture 3">
            <a:extLst>
              <a:ext uri="{FF2B5EF4-FFF2-40B4-BE49-F238E27FC236}">
                <a16:creationId xmlns:a16="http://schemas.microsoft.com/office/drawing/2014/main" id="{CF63113B-1389-F14B-0776-DC1EE9252DB8}"/>
              </a:ext>
            </a:extLst>
          </p:cNvPr>
          <p:cNvPicPr>
            <a:picLocks noChangeAspect="1"/>
          </p:cNvPicPr>
          <p:nvPr/>
        </p:nvPicPr>
        <p:blipFill>
          <a:blip r:embed="rId3"/>
          <a:srcRect/>
          <a:stretch/>
        </p:blipFill>
        <p:spPr>
          <a:xfrm>
            <a:off x="258754" y="1240407"/>
            <a:ext cx="11674492" cy="5115946"/>
          </a:xfrm>
          <a:prstGeom prst="rect">
            <a:avLst/>
          </a:prstGeom>
        </p:spPr>
      </p:pic>
      <p:pic>
        <p:nvPicPr>
          <p:cNvPr id="8" name="Picture 7">
            <a:extLst>
              <a:ext uri="{FF2B5EF4-FFF2-40B4-BE49-F238E27FC236}">
                <a16:creationId xmlns:a16="http://schemas.microsoft.com/office/drawing/2014/main" id="{07A33A3F-BE56-65A1-065E-81B0C864D16D}"/>
              </a:ext>
            </a:extLst>
          </p:cNvPr>
          <p:cNvPicPr>
            <a:picLocks noChangeAspect="1"/>
          </p:cNvPicPr>
          <p:nvPr/>
        </p:nvPicPr>
        <p:blipFill>
          <a:blip r:embed="rId4"/>
          <a:stretch>
            <a:fillRect/>
          </a:stretch>
        </p:blipFill>
        <p:spPr>
          <a:xfrm>
            <a:off x="9094743" y="57097"/>
            <a:ext cx="2955743" cy="1078447"/>
          </a:xfrm>
          <a:prstGeom prst="rect">
            <a:avLst/>
          </a:prstGeom>
        </p:spPr>
      </p:pic>
      <p:pic>
        <p:nvPicPr>
          <p:cNvPr id="3" name="Picture 2">
            <a:extLst>
              <a:ext uri="{FF2B5EF4-FFF2-40B4-BE49-F238E27FC236}">
                <a16:creationId xmlns:a16="http://schemas.microsoft.com/office/drawing/2014/main" id="{BDCDB987-DAF0-1EE2-C73E-C809C6063437}"/>
              </a:ext>
            </a:extLst>
          </p:cNvPr>
          <p:cNvPicPr>
            <a:picLocks noChangeAspect="1"/>
          </p:cNvPicPr>
          <p:nvPr/>
        </p:nvPicPr>
        <p:blipFill>
          <a:blip r:embed="rId5"/>
          <a:stretch>
            <a:fillRect/>
          </a:stretch>
        </p:blipFill>
        <p:spPr>
          <a:xfrm>
            <a:off x="258754" y="1"/>
            <a:ext cx="1093694" cy="1135544"/>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C8214B38-2328-698F-8B41-837B45EEDE96}"/>
              </a:ext>
            </a:extLst>
          </p:cNvPr>
          <p:cNvSpPr>
            <a:spLocks noGrp="1"/>
          </p:cNvSpPr>
          <p:nvPr>
            <p:ph type="subTitle" idx="1"/>
          </p:nvPr>
        </p:nvSpPr>
        <p:spPr>
          <a:xfrm>
            <a:off x="1751990" y="188235"/>
            <a:ext cx="8534400" cy="1752600"/>
          </a:xfrm>
        </p:spPr>
        <p:txBody>
          <a:bodyPr/>
          <a:lstStyle/>
          <a:p>
            <a:r>
              <a:rPr lang="en-US" sz="3600" b="1" dirty="0">
                <a:solidFill>
                  <a:srgbClr val="010000"/>
                </a:solidFill>
                <a:latin typeface="Times New Roman" panose="02020603050405020304" pitchFamily="18" charset="0"/>
                <a:cs typeface="Times New Roman" panose="02020603050405020304" pitchFamily="18" charset="0"/>
              </a:rPr>
              <a:t>RESEARCH AND REFERENCES</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11" name="Picture 2"/>
          <p:cNvPicPr>
            <a:picLocks noChangeAspect="1" noChangeArrowheads="1"/>
          </p:cNvPicPr>
          <p:nvPr/>
        </p:nvPicPr>
        <p:blipFill>
          <a:blip r:embed="rId3"/>
          <a:srcRect/>
          <a:stretch/>
        </p:blipFill>
        <p:spPr bwMode="auto">
          <a:xfrm>
            <a:off x="9841366" y="215516"/>
            <a:ext cx="2209120" cy="80603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2E98096-EFB5-3620-0F19-9D9F7455CF97}"/>
              </a:ext>
            </a:extLst>
          </p:cNvPr>
          <p:cNvPicPr>
            <a:picLocks noChangeAspect="1"/>
          </p:cNvPicPr>
          <p:nvPr/>
        </p:nvPicPr>
        <p:blipFill>
          <a:blip r:embed="rId4"/>
          <a:srcRect/>
          <a:stretch/>
        </p:blipFill>
        <p:spPr>
          <a:xfrm>
            <a:off x="8026400" y="1255627"/>
            <a:ext cx="4217245" cy="5414138"/>
          </a:xfrm>
          <a:prstGeom prst="rect">
            <a:avLst/>
          </a:prstGeom>
        </p:spPr>
      </p:pic>
      <p:pic>
        <p:nvPicPr>
          <p:cNvPr id="2" name="Picture 1">
            <a:extLst>
              <a:ext uri="{FF2B5EF4-FFF2-40B4-BE49-F238E27FC236}">
                <a16:creationId xmlns:a16="http://schemas.microsoft.com/office/drawing/2014/main" id="{F658AA2C-C0E8-C558-9236-D16CBC49C254}"/>
              </a:ext>
            </a:extLst>
          </p:cNvPr>
          <p:cNvPicPr>
            <a:picLocks noChangeAspect="1"/>
          </p:cNvPicPr>
          <p:nvPr/>
        </p:nvPicPr>
        <p:blipFill>
          <a:blip r:embed="rId5"/>
          <a:stretch>
            <a:fillRect/>
          </a:stretch>
        </p:blipFill>
        <p:spPr>
          <a:xfrm>
            <a:off x="441756" y="1059580"/>
            <a:ext cx="7447687" cy="3464453"/>
          </a:xfrm>
          <a:prstGeom prst="rect">
            <a:avLst/>
          </a:prstGeom>
        </p:spPr>
      </p:pic>
      <p:pic>
        <p:nvPicPr>
          <p:cNvPr id="10" name="Picture 9">
            <a:extLst>
              <a:ext uri="{FF2B5EF4-FFF2-40B4-BE49-F238E27FC236}">
                <a16:creationId xmlns:a16="http://schemas.microsoft.com/office/drawing/2014/main" id="{BCB3CDD7-9332-30DC-0843-090018847A08}"/>
              </a:ext>
            </a:extLst>
          </p:cNvPr>
          <p:cNvPicPr>
            <a:picLocks noChangeAspect="1"/>
          </p:cNvPicPr>
          <p:nvPr/>
        </p:nvPicPr>
        <p:blipFill>
          <a:blip r:embed="rId6"/>
          <a:srcRect/>
          <a:stretch/>
        </p:blipFill>
        <p:spPr>
          <a:xfrm>
            <a:off x="692571" y="4524033"/>
            <a:ext cx="6809101" cy="1961632"/>
          </a:xfrm>
          <a:prstGeom prst="rect">
            <a:avLst/>
          </a:prstGeom>
        </p:spPr>
      </p:pic>
      <p:pic>
        <p:nvPicPr>
          <p:cNvPr id="3" name="Picture 2">
            <a:extLst>
              <a:ext uri="{FF2B5EF4-FFF2-40B4-BE49-F238E27FC236}">
                <a16:creationId xmlns:a16="http://schemas.microsoft.com/office/drawing/2014/main" id="{685AF2DB-F451-4103-E454-21C06BC23C3B}"/>
              </a:ext>
            </a:extLst>
          </p:cNvPr>
          <p:cNvPicPr>
            <a:picLocks noChangeAspect="1"/>
          </p:cNvPicPr>
          <p:nvPr/>
        </p:nvPicPr>
        <p:blipFill>
          <a:blip r:embed="rId7"/>
          <a:stretch>
            <a:fillRect/>
          </a:stretch>
        </p:blipFill>
        <p:spPr>
          <a:xfrm>
            <a:off x="95925" y="1"/>
            <a:ext cx="1053187" cy="1102718"/>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7487</TotalTime>
  <Words>325</Words>
  <Application>Microsoft Office PowerPoint</Application>
  <PresentationFormat>Widescreen</PresentationFormat>
  <Paragraphs>62</Paragraphs>
  <Slides>6</Slides>
  <Notes>4</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SMART INDIA HACKATHON 2026</vt:lpstr>
      <vt:lpstr>AI/ML-Based Tropical Cyclone Identification, Classification &amp; Prediction Using Multi-Source Satellite Data</vt:lpstr>
      <vt:lpstr>TECHNICAL APPROACH</vt:lpstr>
      <vt:lpstr>FEASIBILITY AND VIABILITY </vt:lpstr>
      <vt:lpstr>IMPACTS AND BENEFITS </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madhusuwalka6@gmail.com</cp:lastModifiedBy>
  <cp:revision>167</cp:revision>
  <dcterms:created xsi:type="dcterms:W3CDTF">2013-12-12T18:46:50Z</dcterms:created>
  <dcterms:modified xsi:type="dcterms:W3CDTF">2026-09-11T06:28:25Z</dcterms:modified>
  <cp:category/>
</cp:coreProperties>
</file>